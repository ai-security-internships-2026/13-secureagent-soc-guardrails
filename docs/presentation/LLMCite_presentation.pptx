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82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talk is about one narrow question: when an AI assistant writes a security report and cites a CVE or an ATT&amp;CK technique, how do we know the citation is supported by the alert?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on this slide: first, what LLMCite actually is, for anyone hearing about it for the first time; second, the boundary of the project. LLMCite verifies citations the model already makes, it does not identify a CVE from behavior, and it does not judge severity or remediation claims. Keeping that boundary explicit avoids overclaiming in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left to right. The key design choice is that CVE, ATT&amp;CK, and PII checks are independently toggleable and run sequentially, not concurrently, which is what the ablation study later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left as a placeholder. The demo video goes here, showing the dashboard flagging a REAL_AND_PLAUSIBLE citation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7257" y="1100468"/>
            <a:ext cx="6457454" cy="45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100" dirty="0">
                <a:solidFill>
                  <a:srgbClr val="FBFB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2867257" y="1857971"/>
            <a:ext cx="8511943" cy="41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7257" y="1100468"/>
            <a:ext cx="6457454" cy="45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100" dirty="0">
                <a:solidFill>
                  <a:srgbClr val="FBFB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2867257" y="1857971"/>
            <a:ext cx="8511943" cy="41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029553"/>
            <a:ext cx="10883392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BFBF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LLMCite: Grounded Verification of Hallucinated CVE and ATT&amp;CK Citations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4295114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9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LLM-Generated Security Operations Center Reports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48335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Emaan Afroz Khuram · TeCIP, Scuola Superiore Sant'Anna, Pisa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FBFBF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is LLMCite?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90600" y="1561386"/>
            <a:ext cx="10700258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61925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two-stage citation-grounding and verification pipeline for LLM-generated SOC threat reports</a:t>
            </a:r>
            <a:endParaRPr lang="en-US" sz="1400" dirty="0"/>
          </a:p>
          <a:p>
            <a:pPr marL="190500" indent="-161925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whether a cited CVE or MITRE ATT&amp;CK identifier is actually supported by the alert's own evidence</a:t>
            </a:r>
            <a:endParaRPr lang="en-US" sz="1400" dirty="0"/>
          </a:p>
          <a:p>
            <a:pPr marL="190500" indent="-161925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not, verifies it against NVD or MITRE ATT&amp;CK data and classifies the outcome, instead of a single flagged / not-flagged label</a:t>
            </a:r>
            <a:endParaRPr lang="en-US" sz="1400" dirty="0"/>
          </a:p>
          <a:p>
            <a:pPr marL="190500" indent="-161925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problem:</a:t>
            </a:r>
            <a:r>
              <a:rPr lang="en-US" sz="140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almost nothing today checks these citations at all, and invented, real-but-unrelated, and real-but-unmentioned citations all carry very different risks for an analyst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3226295"/>
            <a:ext cx="5194300" cy="1464138"/>
          </a:xfrm>
          <a:prstGeom prst="roundRect">
            <a:avLst>
              <a:gd name="adj" fmla="val 6072"/>
            </a:avLst>
          </a:prstGeom>
          <a:solidFill>
            <a:srgbClr val="1E2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3239" y="3372345"/>
            <a:ext cx="498386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9FD6C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2088" y="3703145"/>
            <a:ext cx="4813808" cy="87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Grounding and verifying CVE and ATT&amp;CK citations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taxonomy for why a citation fails, not just that it fails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Input-guardrail and PII-redaction layers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Benchmarking against SelfCheckGPT-style self-consistency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54496" y="3226295"/>
            <a:ext cx="5194300" cy="1434082"/>
          </a:xfrm>
          <a:prstGeom prst="roundRect">
            <a:avLst>
              <a:gd name="adj" fmla="val 6072"/>
            </a:avLst>
          </a:prstGeom>
          <a:solidFill>
            <a:srgbClr val="1E2E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64935" y="3372345"/>
            <a:ext cx="498386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0A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34988" y="3703145"/>
            <a:ext cx="4813808" cy="87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Identifying a CVE from symptoms alone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Severity or remediation claim verification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or tool-claim verification</a:t>
            </a:r>
            <a:endParaRPr lang="en-US" sz="1150" dirty="0"/>
          </a:p>
          <a:p>
            <a:pPr marL="175260" indent="-154813" algn="l">
              <a:lnSpc>
                <a:spcPts val="1668"/>
              </a:lnSpc>
              <a:buSzPct val="100000"/>
              <a:buChar char="•"/>
            </a:pPr>
            <a:r>
              <a:rPr lang="en-US" sz="1150" dirty="0">
                <a:solidFill>
                  <a:srgbClr val="E6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Device-level or proxy-based interception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2800" y="6256074"/>
            <a:ext cx="471527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Emaan Afroz Khuram · TeCIP, Scuola Superiore Sant'Anna, Pisa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134108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spc="-15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Two-stage pipeline, three independent guardrails</a:t>
            </a:r>
            <a:endParaRPr lang="en-US" sz="3200" spc="-150" dirty="0"/>
          </a:p>
        </p:txBody>
      </p:sp>
      <p:sp>
        <p:nvSpPr>
          <p:cNvPr id="3" name="Shape 1"/>
          <p:cNvSpPr/>
          <p:nvPr/>
        </p:nvSpPr>
        <p:spPr>
          <a:xfrm>
            <a:off x="815975" y="2022475"/>
            <a:ext cx="3431117" cy="996950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94833" y="2201334"/>
            <a:ext cx="316560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F5C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guardrail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4833" y="2447661"/>
            <a:ext cx="3165602" cy="416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patterns, then Pytector (DeBERTa) fallback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0442" y="2022475"/>
            <a:ext cx="3431117" cy="996950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59300" y="2201334"/>
            <a:ext cx="316560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F5C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59300" y="2447661"/>
            <a:ext cx="3165602" cy="416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openai/gpt-oss-20b or qwen/qwen3.6-27b, via Groq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44909" y="2022475"/>
            <a:ext cx="3431117" cy="996950"/>
          </a:xfrm>
          <a:prstGeom prst="roundRect">
            <a:avLst>
              <a:gd name="adj" fmla="val 8599"/>
            </a:avLst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123767" y="2201334"/>
            <a:ext cx="316560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A637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CVE / ATT&amp;CK / PII checks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3767" y="2447661"/>
            <a:ext cx="3165602" cy="416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Grounding, then NVD or MITRE STIX, then Presidio + spaCy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975" y="3273425"/>
            <a:ext cx="5175250" cy="1111250"/>
          </a:xfrm>
          <a:prstGeom prst="roundRect">
            <a:avLst>
              <a:gd name="adj" fmla="val 8857"/>
            </a:avLst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20233" y="3477684"/>
            <a:ext cx="490973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1: Grounding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0233" y="3751991"/>
            <a:ext cx="49097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cited identifier present in the alert's own evidence text? Cheap, deterministic, no API call.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0775" y="3273425"/>
            <a:ext cx="5175250" cy="1111250"/>
          </a:xfrm>
          <a:prstGeom prst="roundRect">
            <a:avLst>
              <a:gd name="adj" fmla="val 8857"/>
            </a:avLst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5033" y="3477684"/>
            <a:ext cx="490973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2: Verification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5033" y="3751991"/>
            <a:ext cx="49097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it up in NVD or the local MITRE ATT&amp;CK STIX snapshot; score topical relevance.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507113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 classes: FABRICATED · REAL_BUT_IRRELEVANT · </a:t>
            </a:r>
            <a:r>
              <a:rPr lang="en-US" sz="1200" b="1" dirty="0">
                <a:solidFill>
                  <a:srgbClr val="A637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REAL_AND_PLAUSIBLE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UNVERIFIED · REJECTED / REVOKED</a:t>
            </a:r>
            <a:endParaRPr lang="en-US" sz="1200" dirty="0"/>
          </a:p>
        </p:txBody>
      </p:sp>
      <p:pic>
        <p:nvPicPr>
          <p:cNvPr id="19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02269" y="2457450"/>
            <a:ext cx="304800" cy="127000"/>
          </a:xfrm>
          <a:prstGeom prst="rect">
            <a:avLst/>
          </a:prstGeom>
        </p:spPr>
      </p:pic>
      <p:pic>
        <p:nvPicPr>
          <p:cNvPr id="2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40055" y="2457450"/>
            <a:ext cx="3048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686862" y="1388137"/>
            <a:ext cx="2818209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BFBF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Live 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38350" y="2174215"/>
            <a:ext cx="8115300" cy="3543300"/>
          </a:xfrm>
          <a:prstGeom prst="roundRect">
            <a:avLst>
              <a:gd name="adj" fmla="val 2688"/>
            </a:avLst>
          </a:prstGeom>
          <a:noFill/>
          <a:ln w="12700">
            <a:solidFill>
              <a:srgbClr val="4A5F86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8FA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 inserted here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Cite: Grounded Verification of Hallucinated CVE and ATT&amp;CK Citations">
  <a:themeElements>
    <a:clrScheme name="LLMCite: Grounded Verification of Hallucinated CVE and ATT&amp;CK Citations">
      <a:dk1>
        <a:srgbClr val="14213D"/>
      </a:dk1>
      <a:lt1>
        <a:srgbClr val="FBFBF8"/>
      </a:lt1>
      <a:dk2>
        <a:srgbClr val="2B3750"/>
      </a:dk2>
      <a:lt2>
        <a:srgbClr val="C1C5C9"/>
      </a:lt2>
      <a:accent1>
        <a:srgbClr val="8FA3C2"/>
      </a:accent1>
      <a:accent2>
        <a:srgbClr val="2F5C8A"/>
      </a:accent2>
      <a:accent3>
        <a:srgbClr val="BFD0E6"/>
      </a:accent3>
      <a:accent4>
        <a:srgbClr val="9FD6C7"/>
      </a:accent4>
      <a:accent5>
        <a:srgbClr val="E0A0A6"/>
      </a:accent5>
      <a:accent6>
        <a:srgbClr val="A6373B"/>
      </a:accent6>
      <a:hlink>
        <a:srgbClr val="0563C1"/>
      </a:hlink>
      <a:folHlink>
        <a:srgbClr val="954F72"/>
      </a:folHlink>
    </a:clrScheme>
    <a:fontScheme name="LLMCite: Grounded Verification of Hallucinated CVE and ATT&amp;CK Citation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Widescreen</PresentationFormat>
  <Paragraphs>41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IBM Plex Sans</vt:lpstr>
      <vt:lpstr>Source Serif 4</vt:lpstr>
      <vt:lpstr>LLMCite: Grounded Verification of Hallucinated CVE and ATT&amp;CK Citations</vt:lpstr>
      <vt:lpstr>LLMCite: Grounded Verification of Hallucinated CVE and ATT&amp;CK Citations</vt:lpstr>
      <vt:lpstr>What is LLMCite?</vt:lpstr>
      <vt:lpstr>Two-stage pipeline, three independent guardrails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LLMCite: Grounded Verification of Hallucinated CVE and ATT&amp;CK Citations</dc:title>
  <dc:subject/>
  <dc:creator/>
  <cp:lastModifiedBy>Emaan Khuram</cp:lastModifiedBy>
  <cp:revision>2</cp:revision>
  <dcterms:created xsi:type="dcterms:W3CDTF">2026-10-07T10:40:41Z</dcterms:created>
  <dcterms:modified xsi:type="dcterms:W3CDTF">2026-10-07T10:45:00Z</dcterms:modified>
</cp:coreProperties>
</file>